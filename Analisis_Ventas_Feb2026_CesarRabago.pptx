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7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96" autoAdjust="0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1A1A"/>
                </a:solidFill>
                <a:latin typeface="Arial"/>
              </a:rPr>
              <a:t>Ingreso estimado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USD</c:v>
                </c:pt>
              </c:strCache>
            </c:strRef>
          </c:tx>
          <c:spPr>
            <a:solidFill>
              <a:srgbClr val="8C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442-4328-A315-91563CC38EA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442-4328-A315-91563CC38E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0D0D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MX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8423</c:v>
                </c:pt>
                <c:pt idx="1">
                  <c:v>8171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42-4328-A315-91563CC38E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1A1A"/>
                </a:solidFill>
                <a:latin typeface="Arial"/>
              </a:rPr>
              <a:t>Tasa de cancelación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Tasa de cancelación (%)</c:v>
                </c:pt>
              </c:strCache>
            </c:strRef>
          </c:tx>
          <c:spPr>
            <a:solidFill>
              <a:srgbClr val="8C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DC-48CD-A94C-3DB779D6F769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DC-48CD-A94C-3DB779D6F76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0D0D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MX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4.4000000000000004</c:v>
                </c:pt>
                <c:pt idx="1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DC-48CD-A94C-3DB779D6F7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1A1A"/>
                </a:solidFill>
                <a:latin typeface="Arial"/>
              </a:rPr>
              <a:t>Ingreso estimado por categoría (USD)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 USD</c:v>
                </c:pt>
              </c:strCache>
            </c:strRef>
          </c:tx>
          <c:spPr>
            <a:solidFill>
              <a:srgbClr val="8C1C1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5E-4DF7-AA78-3AB94CF6C7B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5E-4DF7-AA78-3AB94CF6C7B8}"/>
              </c:ext>
            </c:extLst>
          </c:dPt>
          <c:dPt>
            <c:idx val="2"/>
            <c:invertIfNegative val="0"/>
            <c:bubble3D val="0"/>
            <c:spPr>
              <a:solidFill>
                <a:srgbClr val="A52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5E-4DF7-AA78-3AB94CF6C7B8}"/>
              </c:ext>
            </c:extLst>
          </c:dPt>
          <c:dPt>
            <c:idx val="3"/>
            <c:invertIfNegative val="0"/>
            <c:bubble3D val="0"/>
            <c:spPr>
              <a:solidFill>
                <a:srgbClr val="6B151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5E-4DF7-AA78-3AB94CF6C7B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A5E-4DF7-AA78-3AB94CF6C7B8}"/>
              </c:ext>
            </c:extLst>
          </c:dPt>
          <c:dPt>
            <c:idx val="5"/>
            <c:invertIfNegative val="0"/>
            <c:bubble3D val="0"/>
            <c:spPr>
              <a:solidFill>
                <a:srgbClr val="5555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A5E-4DF7-AA78-3AB94CF6C7B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Bundle</c:v>
                </c:pt>
                <c:pt idx="1">
                  <c:v>Smoked Salt</c:v>
                </c:pt>
                <c:pt idx="2">
                  <c:v>Seasoning</c:v>
                </c:pt>
                <c:pt idx="3">
                  <c:v>Sauce</c:v>
                </c:pt>
                <c:pt idx="4">
                  <c:v>Snack</c:v>
                </c:pt>
                <c:pt idx="5">
                  <c:v>Accessory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6217</c:v>
                </c:pt>
                <c:pt idx="1">
                  <c:v>4885</c:v>
                </c:pt>
                <c:pt idx="2">
                  <c:v>2256</c:v>
                </c:pt>
                <c:pt idx="3">
                  <c:v>1566</c:v>
                </c:pt>
                <c:pt idx="4">
                  <c:v>1428</c:v>
                </c:pt>
                <c:pt idx="5">
                  <c:v>242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A5E-4DF7-AA78-3AB94CF6C7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s-MX" sz="1200" b="0" i="0" u="none" strike="noStrike">
                <a:solidFill>
                  <a:srgbClr val="1A1A1A"/>
                </a:solidFill>
                <a:latin typeface="Arial"/>
              </a:rPr>
              <a:t>Volumen (# líneas)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Volumen (líneas)</c:v>
                </c:pt>
              </c:strCache>
            </c:strRef>
          </c:tx>
          <c:spPr>
            <a:solidFill>
              <a:srgbClr val="5555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Smoked Salt</c:v>
                </c:pt>
                <c:pt idx="1">
                  <c:v>Bundle</c:v>
                </c:pt>
                <c:pt idx="2">
                  <c:v>Seasoning</c:v>
                </c:pt>
                <c:pt idx="3">
                  <c:v>Sauce</c:v>
                </c:pt>
                <c:pt idx="4">
                  <c:v>Snack</c:v>
                </c:pt>
                <c:pt idx="5">
                  <c:v>Accessory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</c:v>
                </c:pt>
                <c:pt idx="1">
                  <c:v>162</c:v>
                </c:pt>
                <c:pt idx="2">
                  <c:v>149</c:v>
                </c:pt>
                <c:pt idx="3">
                  <c:v>101</c:v>
                </c:pt>
                <c:pt idx="4">
                  <c:v>59</c:v>
                </c:pt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F4-442D-9C77-F1ACA2FBD6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0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Órdenes únicas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S1 (Feb 1)</c:v>
                </c:pt>
                <c:pt idx="1">
                  <c:v>S2 (Feb 2-8)</c:v>
                </c:pt>
                <c:pt idx="2">
                  <c:v>S3 (Feb 9-15)</c:v>
                </c:pt>
                <c:pt idx="3">
                  <c:v>S4 (Feb 16-22)</c:v>
                </c:pt>
                <c:pt idx="4">
                  <c:v>S5 (Feb 23-Mar 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149</c:v>
                </c:pt>
                <c:pt idx="2">
                  <c:v>155</c:v>
                </c:pt>
                <c:pt idx="3">
                  <c:v>164</c:v>
                </c:pt>
                <c:pt idx="4">
                  <c:v>142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38-4649-A22B-3411921A5C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Unidades vendidas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S1 (Feb 1)</c:v>
                </c:pt>
                <c:pt idx="1">
                  <c:v>S2 (Feb 2-8)</c:v>
                </c:pt>
                <c:pt idx="2">
                  <c:v>S3 (Feb 9-15)</c:v>
                </c:pt>
                <c:pt idx="3">
                  <c:v>S4 (Feb 16-22)</c:v>
                </c:pt>
                <c:pt idx="4">
                  <c:v>S5 (Feb 23-Mar 1)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</c:v>
                </c:pt>
                <c:pt idx="1">
                  <c:v>209</c:v>
                </c:pt>
                <c:pt idx="2">
                  <c:v>201</c:v>
                </c:pt>
                <c:pt idx="3">
                  <c:v>255</c:v>
                </c:pt>
                <c:pt idx="4">
                  <c:v>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38-4649-A22B-3411921A5C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9503348318162365"/>
          <c:y val="4.8558795015487932E-2"/>
          <c:w val="0.38038220621358498"/>
          <c:h val="7.68165803598874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MX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7635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3200400" cy="201168"/>
          </a:xfrm>
          <a:prstGeom prst="rect">
            <a:avLst/>
          </a:prstGeom>
          <a:solidFill>
            <a:srgbClr val="A52828"/>
          </a:solidFill>
          <a:ln w="12700">
            <a:solidFill>
              <a:srgbClr val="A528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VENTAS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5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Febrero 2026  ·  eCommerce Orders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r>
              <a:rPr lang="en-US" sz="13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 Jr - César Rábago Pérez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·  Calidad de Datos  ·  Insights  ·  Recomendaciones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estructurado sobre 621 órdenes  |  2 mercados  |  6 categorías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01  ·  LA BASE DE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Alcance del Dataset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98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Período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893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Feb – 1 Mar 2026 (1 mes)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673352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73352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Registros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191109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 líneas  ·  621 órdenes únicas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295144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295144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134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Mercados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5328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y MX (+ 4 países menores)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16936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16936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35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Canales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MX, External US, External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538728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38728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570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Categorías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7764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Smoked Salt, Bundle, Seasoning, Sauce, Snack, Accessory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160520"/>
            <a:ext cx="49377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160520"/>
            <a:ext cx="45720" cy="50292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1788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Pagos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982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CreditCard, GiftCertificate, Installments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1005840"/>
            <a:ext cx="32461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69280" y="1051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COLUMNAS DISPONIBLES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69280" y="1371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  ·  order_date  ·  updated_date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828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·  channel  ·  fulfillment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0" y="2286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shipping_tier  ·  product_id  ·  category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69280" y="27432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 ·  currency  ·  unit_price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32004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 ·  shipping_cost  ·  discount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69280" y="3657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 ·  state  ·  country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69280" y="41148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  ·  is_business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02  ·  CALIDAD DE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Encontrados en la Base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05840"/>
          <a:ext cx="8503920" cy="3474723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afectados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del 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0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626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aplica a todos los canales/mercados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shipping_cost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70.8 %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Probable absorción por fulfillment de plataforma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718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4 líneas; descuento fijo de $71.28 (promoción puntual)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 / unit_price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precio de venta → excluidas del cálculo de ingreso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 = 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Líneas canceladas o de ajuste — ver supuestos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/ country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/ 722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Registros sin geolocalización completa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 base no es perfecta, pero es interpretable. Los problemas son consistentes con datos de e-commerce reales.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02  ·  CALIDAD DE DATOS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y Decisiones de Análisis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MXN → USD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usó $20 MXN por USD para homologar ingresos entre mercados. Las cifras en MXN se convirtieron solo para comparaciones; el análisis por mercado mantiene moneda original.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con quantity =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29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líneas tienen cantidad cero pero status 'Shipped'. Se interpretaron como líneas canceladas o ajustes de inventario y fueron excluidas del cálculo de ingresos.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43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de volumen (External channel)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16002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órdenes tienen cantidades de 112 y 51 unidades (canal External). Se identificaron como posibles ventas B2B/mayoreo y se documentaron pero no se excluyeron del conteo de órdenes.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834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2971800"/>
            <a:ext cx="411480" cy="41148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971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de costo no usados en revenue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3429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y shipping_cost tienen &gt;70% de nulos. El ingreso bruto se calculó únicamente como unit_price × quantity para mantener consistencia en toda la base.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27463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</p:sp>
      <p:sp>
        <p:nvSpPr>
          <p:cNvPr id="3" name="SectionLabel"/>
          <p:cNvSpPr/>
          <p:nvPr/>
        </p:nvSpPr>
        <p:spPr>
          <a:xfrm>
            <a:off x="274638" y="0"/>
            <a:ext cx="50000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kern="0" spc="200" dirty="0">
                <a:solidFill>
                  <a:srgbClr val="FFFFFF"/>
                </a:solidFill>
                <a:latin typeface="Calibri" pitchFamily="34" charset="0"/>
              </a:rPr>
              <a:t>02b  ·  CALIDAD DE DATOS</a:t>
            </a:r>
          </a:p>
        </p:txBody>
      </p:sp>
      <p:sp>
        <p:nvSpPr>
          <p:cNvPr id="4" name="Title"/>
          <p:cNvSpPr/>
          <p:nvPr/>
        </p:nvSpPr>
        <p:spPr>
          <a:xfrm>
            <a:off x="274638" y="320040"/>
            <a:ext cx="7500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dirty="0">
                <a:solidFill>
                  <a:srgbClr val="1A1A1A"/>
                </a:solidFill>
                <a:latin typeface="Calibri" pitchFamily="34" charset="0"/>
              </a:rPr>
              <a:t>Distribuciones y Outliers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8961120" cy="3657600"/>
          </a:xfrm>
          <a:prstGeom prst="rect">
            <a:avLst/>
          </a:prstGeom>
        </p:spPr>
      </p:pic>
      <p:sp>
        <p:nvSpPr>
          <p:cNvPr id="6" name="Insight"/>
          <p:cNvSpPr/>
          <p:nvPr/>
        </p:nvSpPr>
        <p:spPr>
          <a:xfrm>
            <a:off x="274638" y="4572000"/>
            <a:ext cx="85947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i="1" dirty="0">
                <a:solidFill>
                  <a:srgbClr val="8C1C1C"/>
                </a:solidFill>
                <a:latin typeface="Calibri" pitchFamily="34" charset="0"/>
              </a:rPr>
              <a:t>💡  Precio unitario concentrado en $10–$20 (long-tail hacia Bundles &gt;$40). Cantidad por orden: 95% ≤ 6 uds — 2 outliers B2B con 51 y 112 uds en canal External.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27463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</a:ln>
        </p:spPr>
      </p:sp>
      <p:sp>
        <p:nvSpPr>
          <p:cNvPr id="3" name="SectionLabel"/>
          <p:cNvSpPr/>
          <p:nvPr/>
        </p:nvSpPr>
        <p:spPr>
          <a:xfrm>
            <a:off x="274638" y="0"/>
            <a:ext cx="5000000" cy="27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900" kern="0" spc="200" dirty="0">
                <a:solidFill>
                  <a:srgbClr val="FFFFFF"/>
                </a:solidFill>
                <a:latin typeface="Calibri" pitchFamily="34" charset="0"/>
              </a:rPr>
              <a:t>02c  ·  CALIDAD DE DATOS</a:t>
            </a:r>
          </a:p>
        </p:txBody>
      </p:sp>
      <p:sp>
        <p:nvSpPr>
          <p:cNvPr id="4" name="Title"/>
          <p:cNvSpPr/>
          <p:nvPr/>
        </p:nvSpPr>
        <p:spPr>
          <a:xfrm>
            <a:off x="274638" y="320040"/>
            <a:ext cx="7500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dirty="0">
                <a:solidFill>
                  <a:srgbClr val="1A1A1A"/>
                </a:solidFill>
                <a:latin typeface="Calibri" pitchFamily="34" charset="0"/>
              </a:rPr>
              <a:t>Relaciones entre Variables</a:t>
            </a:r>
          </a:p>
        </p:txBody>
      </p:sp>
      <p:pic>
        <p:nvPicPr>
          <p:cNvPr id="100" name="Picture 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822960"/>
            <a:ext cx="8961120" cy="3657600"/>
          </a:xfrm>
          <a:prstGeom prst="rect">
            <a:avLst/>
          </a:prstGeom>
        </p:spPr>
      </p:pic>
      <p:sp>
        <p:nvSpPr>
          <p:cNvPr id="6" name="Insight"/>
          <p:cNvSpPr/>
          <p:nvPr/>
        </p:nvSpPr>
        <p:spPr>
          <a:xfrm>
            <a:off x="274638" y="4572000"/>
            <a:ext cx="859472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000" i="1" dirty="0">
                <a:solidFill>
                  <a:srgbClr val="8C1C1C"/>
                </a:solidFill>
                <a:latin typeface="Calibri" pitchFamily="34" charset="0"/>
              </a:rPr>
              <a:t>💡  CreditCard e Installments concentran la mayor tasa de cancelación en MX (14.2% y 12.8%). Platform fulfillment usa más Expedited (62%) vs Seller (48%).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03  · 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General del Negocio · Febrero 2026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" y="181051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Órdenes únicas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" y="214701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 líneas en total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00584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05456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~$16.6K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05456" y="181051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estimado (USD)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05456" y="214701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Excluye qty=0 y sin precio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100584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62856" y="181051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principales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62856" y="214701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y MX casi parejos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100584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92240" y="1005840"/>
            <a:ext cx="54864" cy="1463040"/>
          </a:xfrm>
          <a:prstGeom prst="rect">
            <a:avLst/>
          </a:prstGeom>
          <a:solidFill>
            <a:srgbClr val="6B1515"/>
          </a:solidFill>
          <a:ln w="12700">
            <a:solidFill>
              <a:srgbClr val="6B151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20256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6B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620256" y="181051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20256" y="214701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lidera en $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6517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65176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056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448056" y="345643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con qty=0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" y="379293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Prob. cancelaciones/ajuste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377440" y="26517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377440" y="265176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05456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10.9%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2505456" y="345643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 en MX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05456" y="379293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4.4% en 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434840" y="26517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34840" y="265176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62856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4562856" y="345643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Platform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62856" y="379293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25% Seller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26517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92240" y="2651760"/>
            <a:ext cx="54864" cy="146304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27432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000" b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6620256" y="3456432"/>
            <a:ext cx="173736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Expedited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620256" y="3792931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39% Standard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20040" y="4709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en USD estimado con tipo de cambio $20 MXN/USD  ·  Excluye 57 líneas sin precio y 51 con cantidad 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03  · 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por Mercado: US vs MX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572000" y="1005840"/>
          <a:ext cx="42976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11480" y="437083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Ingreso similar entre mercados (~$8.4K vs $8.2K USD), pero MX tiene 2.5× más cancelaciones que US (10.9% vs 4.4%). Investigar causas: logística, experiencia de pago o producto.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03  · 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por Categoría de Producto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1005840"/>
          <a:ext cx="530352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5760720" y="1005840"/>
          <a:ext cx="31089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Bundle genera el mayor ingreso ($6.2K) pero tiene menos líneas que Smoked Salt (245 líneas). Bundle tiene el ticket promedio más alto del portafolio.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D0D0D"/>
          </a:solidFill>
          <a:ln w="12700">
            <a:solidFill>
              <a:srgbClr val="0D0D0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03  ·  INSIGHTS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3200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Semanal de Órdenes</a:t>
            </a:r>
            <a:endParaRPr lang="en-US" sz="26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1234174522"/>
              </p:ext>
            </p:extLst>
          </p:nvPr>
        </p:nvGraphicFramePr>
        <p:xfrm>
          <a:off x="274320" y="1005840"/>
          <a:ext cx="859536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44805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*S1 contiene solo el 1 de febrero (semana parcial)  ·  S5 incluye el 1 de marzo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943600" y="4343400"/>
            <a:ext cx="292608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43708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 pico en unidades (255)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tendencia alcista de items vs órdenes → canasta promedio sube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A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de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04  ·  RECOMENDACIONES E IMPLICACIONES DE NEGOCIO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sugeridas a partir del análisis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16002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cancelaciones en MX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tasa de 10.9% en MX casi triplica la de US. Revisar el flujo de pago (uso alto de CreditCard local), cobertura de zonas de entrega y comunicación de tiempos.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4160520" cy="16002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292608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Potenciar Bundle como ancla de ingreso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35584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genera 37% del ingreso con solo 22% de las líneas. Estrategias de cross-sell con Smoked Salt (mayor volumen) podrían aumentar ticket promedio.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143000"/>
            <a:ext cx="384048" cy="384048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0952" y="114300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líneas con qty =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57276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líneas con cantidad cero y status 'Shipped' son una anomalía. Pueden representar errores de captura, cancelaciones tardías o ajustes de inventario — requiere validación operativa.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2788920"/>
            <a:ext cx="4160520" cy="16002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926080"/>
            <a:ext cx="384048" cy="384048"/>
          </a:xfrm>
          <a:prstGeom prst="rect">
            <a:avLst/>
          </a:prstGeom>
          <a:solidFill>
            <a:srgbClr val="8C1C1C"/>
          </a:solidFill>
          <a:ln w="12700">
            <a:solidFill>
              <a:srgbClr val="8C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30952" y="2926080"/>
            <a:ext cx="3401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0D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captura de datos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35584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campos tax, shipping_cost y discount tienen hasta 99% de nulos. Definir un estándar mínimo de datos para poder calcular margen real y ROI de envío por canal.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974</Words>
  <Application>Microsoft Office PowerPoint</Application>
  <PresentationFormat>Presentación en pantalla (16:9)</PresentationFormat>
  <Paragraphs>143</Paragraphs>
  <Slides>12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Ventas – Febrero 2026</dc:title>
  <dc:subject>PptxGenJS Presentation</dc:subject>
  <dc:creator>PptxGenJS</dc:creator>
  <cp:lastModifiedBy>CRABAGO</cp:lastModifiedBy>
  <cp:revision>5</cp:revision>
  <dcterms:created xsi:type="dcterms:W3CDTF">2026-04-15T04:53:29Z</dcterms:created>
  <dcterms:modified xsi:type="dcterms:W3CDTF">2026-05-02T05:25:12Z</dcterms:modified>
</cp:coreProperties>
</file>